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3" r:id="rId9"/>
  </p:sldIdLst>
  <p:sldSz cx="18288000" cy="10287000"/>
  <p:notesSz cx="6858000" cy="9144000"/>
  <p:embeddedFontLst>
    <p:embeddedFont>
      <p:font typeface="Times New Roman Bold" panose="02020803070505020304"/>
      <p:bold r:id="rId13"/>
    </p:embeddedFont>
    <p:embeddedFont>
      <p:font typeface="Calibri" panose="020F0502020204030204" charset="0"/>
      <p:regular r:id="rId14"/>
      <p:bold r:id="rId15"/>
      <p:italic r:id="rId16"/>
      <p:boldItalic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font" Target="fonts/font5.fntdata"/><Relationship Id="rId16" Type="http://schemas.openxmlformats.org/officeDocument/2006/relationships/font" Target="fonts/font4.fntdata"/><Relationship Id="rId15" Type="http://schemas.openxmlformats.org/officeDocument/2006/relationships/font" Target="fonts/font3.fntdata"/><Relationship Id="rId14" Type="http://schemas.openxmlformats.org/officeDocument/2006/relationships/font" Target="fonts/font2.fntdata"/><Relationship Id="rId13" Type="http://schemas.openxmlformats.org/officeDocument/2006/relationships/font" Target="fonts/font1.fntdata"/><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458717" y="3066097"/>
            <a:ext cx="13332886" cy="4069080"/>
          </a:xfrm>
          <a:prstGeom prst="rect">
            <a:avLst/>
          </a:prstGeom>
        </p:spPr>
        <p:txBody>
          <a:bodyPr lIns="0" tIns="0" rIns="0" bIns="0" rtlCol="0" anchor="t">
            <a:spAutoFit/>
          </a:bodyPr>
          <a:lstStyle/>
          <a:p>
            <a:pPr algn="just">
              <a:lnSpc>
                <a:spcPts val="4620"/>
              </a:lnSpc>
              <a:spcBef>
                <a:spcPct val="0"/>
              </a:spcBef>
            </a:pPr>
          </a:p>
          <a:p>
            <a:pPr algn="just">
              <a:lnSpc>
                <a:spcPts val="4620"/>
              </a:lnSpc>
              <a:spcBef>
                <a:spcPct val="0"/>
              </a:spcBef>
            </a:pPr>
            <a:r>
              <a:rPr lang="en-US" sz="3300">
                <a:solidFill>
                  <a:srgbClr val="000000"/>
                </a:solidFill>
                <a:latin typeface="Times New Roman" panose="02020603050405020304"/>
                <a:ea typeface="Times New Roman" panose="02020603050405020304"/>
                <a:cs typeface="Times New Roman" panose="02020603050405020304"/>
                <a:sym typeface="Times New Roman" panose="02020603050405020304"/>
              </a:rPr>
              <a:t>Online job portals contain a large number of fraudulent job postings, which mislead job seekers into sharing sensitive information or paying money. Identifying fake job advertisements manually is difficult due to their increasing number and similar appearance to real postings. Additionally, available datasets are highly imbalanced, with very few fake job postings, making it difficult for models to detect fraud effectively.</a:t>
            </a:r>
            <a:endParaRPr lang="en-US" sz="33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 name="TextBox 3"/>
          <p:cNvSpPr txBox="1"/>
          <p:nvPr/>
        </p:nvSpPr>
        <p:spPr>
          <a:xfrm>
            <a:off x="6066956" y="1627693"/>
            <a:ext cx="5852636" cy="991235"/>
          </a:xfrm>
          <a:prstGeom prst="rect">
            <a:avLst/>
          </a:prstGeom>
        </p:spPr>
        <p:txBody>
          <a:bodyPr lIns="0" tIns="0" rIns="0" bIns="0" rtlCol="0" anchor="t">
            <a:spAutoFit/>
          </a:bodyPr>
          <a:lstStyle/>
          <a:p>
            <a:pPr algn="ctr">
              <a:lnSpc>
                <a:spcPts val="7840"/>
              </a:lnSpc>
            </a:pPr>
            <a:r>
              <a:rPr lang="en-US" sz="5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Problem Statement</a:t>
            </a:r>
            <a:endParaRPr lang="en-US" sz="5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227735" y="1986140"/>
            <a:ext cx="14096300" cy="6903720"/>
          </a:xfrm>
          <a:prstGeom prst="rect">
            <a:avLst/>
          </a:prstGeom>
        </p:spPr>
        <p:txBody>
          <a:bodyPr lIns="0" tIns="0" rIns="0" bIns="0" rtlCol="0" anchor="t">
            <a:spAutoFit/>
          </a:bodyPr>
          <a:lstStyle/>
          <a:p>
            <a:pPr algn="just">
              <a:lnSpc>
                <a:spcPts val="4950"/>
              </a:lnSpc>
            </a:pPr>
          </a:p>
          <a:p>
            <a:pPr marL="712470" lvl="1" indent="-356235" algn="just">
              <a:lnSpc>
                <a:spcPts val="4950"/>
              </a:lnSpc>
              <a:buAutoNum type="arabicPeriod"/>
            </a:pPr>
            <a:r>
              <a:rPr lang="en-US" sz="3300">
                <a:solidFill>
                  <a:srgbClr val="000000"/>
                </a:solidFill>
                <a:latin typeface="Times New Roman" panose="02020603050405020304"/>
                <a:ea typeface="Times New Roman" panose="02020603050405020304"/>
                <a:cs typeface="Times New Roman" panose="02020603050405020304"/>
                <a:sym typeface="Times New Roman" panose="02020603050405020304"/>
              </a:rPr>
              <a:t>To create an updated and combined dataset of job postings from multiple sources.</a:t>
            </a:r>
            <a:endParaRPr lang="en-US" sz="33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12470" lvl="1" indent="-356235" algn="just">
              <a:lnSpc>
                <a:spcPts val="4950"/>
              </a:lnSpc>
              <a:buAutoNum type="arabicPeriod"/>
            </a:pPr>
            <a:r>
              <a:rPr lang="en-US" sz="3300">
                <a:solidFill>
                  <a:srgbClr val="000000"/>
                </a:solidFill>
                <a:latin typeface="Times New Roman" panose="02020603050405020304"/>
                <a:ea typeface="Times New Roman" panose="02020603050405020304"/>
                <a:cs typeface="Times New Roman" panose="02020603050405020304"/>
                <a:sym typeface="Times New Roman" panose="02020603050405020304"/>
              </a:rPr>
              <a:t>To handle class imbalance using different SMOTE variants.</a:t>
            </a:r>
            <a:endParaRPr lang="en-US" sz="33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12470" lvl="1" indent="-356235" algn="just">
              <a:lnSpc>
                <a:spcPts val="4950"/>
              </a:lnSpc>
              <a:buAutoNum type="arabicPeriod"/>
            </a:pPr>
            <a:r>
              <a:rPr lang="en-US" sz="3300">
                <a:solidFill>
                  <a:srgbClr val="000000"/>
                </a:solidFill>
                <a:latin typeface="Times New Roman" panose="02020603050405020304"/>
                <a:ea typeface="Times New Roman" panose="02020603050405020304"/>
                <a:cs typeface="Times New Roman" panose="02020603050405020304"/>
                <a:sym typeface="Times New Roman" panose="02020603050405020304"/>
              </a:rPr>
              <a:t>To apply transformer-based deep learning models (BERT and RoBERTa) for fake job detection.</a:t>
            </a:r>
            <a:endParaRPr lang="en-US" sz="33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12470" lvl="1" indent="-356235" algn="just">
              <a:lnSpc>
                <a:spcPts val="4950"/>
              </a:lnSpc>
              <a:buAutoNum type="arabicPeriod"/>
            </a:pPr>
            <a:r>
              <a:rPr lang="en-US" sz="3300">
                <a:solidFill>
                  <a:srgbClr val="000000"/>
                </a:solidFill>
                <a:latin typeface="Times New Roman" panose="02020603050405020304"/>
                <a:ea typeface="Times New Roman" panose="02020603050405020304"/>
                <a:cs typeface="Times New Roman" panose="02020603050405020304"/>
                <a:sym typeface="Times New Roman" panose="02020603050405020304"/>
              </a:rPr>
              <a:t>To compare model performance on both imbalanced and balanced data.</a:t>
            </a:r>
            <a:endParaRPr lang="en-US" sz="33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12470" lvl="1" indent="-356235" algn="just">
              <a:lnSpc>
                <a:spcPts val="4950"/>
              </a:lnSpc>
              <a:buAutoNum type="arabicPeriod"/>
            </a:pPr>
            <a:r>
              <a:rPr lang="en-US" sz="3300">
                <a:solidFill>
                  <a:srgbClr val="000000"/>
                </a:solidFill>
                <a:latin typeface="Times New Roman" panose="02020603050405020304"/>
                <a:ea typeface="Times New Roman" panose="02020603050405020304"/>
                <a:cs typeface="Times New Roman" panose="02020603050405020304"/>
                <a:sym typeface="Times New Roman" panose="02020603050405020304"/>
              </a:rPr>
              <a:t>To identify the best model-SMOTE combination that achieves maximum recall and balanced accuracy.</a:t>
            </a:r>
            <a:endParaRPr lang="en-US" sz="33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12470" lvl="1" indent="-356235" algn="just">
              <a:lnSpc>
                <a:spcPts val="4950"/>
              </a:lnSpc>
              <a:buAutoNum type="arabicPeriod"/>
            </a:pPr>
            <a:r>
              <a:rPr lang="en-US" sz="3300">
                <a:solidFill>
                  <a:srgbClr val="000000"/>
                </a:solidFill>
                <a:latin typeface="Times New Roman" panose="02020603050405020304"/>
                <a:ea typeface="Times New Roman" panose="02020603050405020304"/>
                <a:cs typeface="Times New Roman" panose="02020603050405020304"/>
                <a:sym typeface="Times New Roman" panose="02020603050405020304"/>
              </a:rPr>
              <a:t>To build a reliable system that helps detect fraudulent job postings and protects job seekers.</a:t>
            </a:r>
            <a:endParaRPr lang="en-US" sz="33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 name="TextBox 3"/>
          <p:cNvSpPr txBox="1"/>
          <p:nvPr/>
        </p:nvSpPr>
        <p:spPr>
          <a:xfrm>
            <a:off x="7053908" y="671004"/>
            <a:ext cx="3313509" cy="1033780"/>
          </a:xfrm>
          <a:prstGeom prst="rect">
            <a:avLst/>
          </a:prstGeom>
        </p:spPr>
        <p:txBody>
          <a:bodyPr lIns="0" tIns="0" rIns="0" bIns="0" rtlCol="0" anchor="t">
            <a:spAutoFit/>
          </a:bodyPr>
          <a:lstStyle/>
          <a:p>
            <a:pPr algn="ctr">
              <a:lnSpc>
                <a:spcPts val="8120"/>
              </a:lnSpc>
            </a:pPr>
            <a:r>
              <a:rPr lang="en-US" sz="58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Objectives</a:t>
            </a:r>
            <a:endParaRPr lang="en-US" sz="58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110163" y="2967045"/>
            <a:ext cx="14067674" cy="5812155"/>
          </a:xfrm>
          <a:prstGeom prst="rect">
            <a:avLst/>
          </a:prstGeom>
        </p:spPr>
        <p:txBody>
          <a:bodyPr lIns="0" tIns="0" rIns="0" bIns="0" rtlCol="0" anchor="t">
            <a:spAutoFit/>
          </a:bodyPr>
          <a:lstStyle/>
          <a:p>
            <a:pPr algn="just">
              <a:lnSpc>
                <a:spcPts val="4620"/>
              </a:lnSpc>
              <a:spcBef>
                <a:spcPct val="0"/>
              </a:spcBef>
            </a:pPr>
            <a:r>
              <a:rPr lang="en-US" sz="3300">
                <a:solidFill>
                  <a:srgbClr val="000000"/>
                </a:solidFill>
                <a:latin typeface="Times New Roman" panose="02020603050405020304"/>
                <a:ea typeface="Times New Roman" panose="02020603050405020304"/>
                <a:cs typeface="Times New Roman" panose="02020603050405020304"/>
                <a:sym typeface="Times New Roman" panose="02020603050405020304"/>
              </a:rPr>
              <a:t>Online job portals are widely used for hiring, but many fake job postings also exist, tricking people into sharing personal information or paying money. To protect job seekers, this project builds a system to automatically detect fake job postings. We combined job data from three datasets to create an updated dataset. Since fake jobs are much fewer than real ones, the data is highly imbalanced. To address this, we used SMOTE techniques to generate synthetic samples of fake jobs. Then, we applied transformer-based models, BERT and RoBERTa, to classify job postings. Our experiments show that using SMOTE improves recall and balanced accuracy, and BERT with SMOBD-SMOTE achieves the best performance for detecting fake jobs.</a:t>
            </a:r>
            <a:endParaRPr lang="en-US" sz="33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 name="TextBox 3"/>
          <p:cNvSpPr txBox="1"/>
          <p:nvPr/>
        </p:nvSpPr>
        <p:spPr>
          <a:xfrm>
            <a:off x="3786989" y="1263354"/>
            <a:ext cx="8748198" cy="1033242"/>
          </a:xfrm>
          <a:prstGeom prst="rect">
            <a:avLst/>
          </a:prstGeom>
        </p:spPr>
        <p:txBody>
          <a:bodyPr lIns="0" tIns="0" rIns="0" bIns="0" rtlCol="0" anchor="t">
            <a:spAutoFit/>
          </a:bodyPr>
          <a:lstStyle/>
          <a:p>
            <a:pPr algn="ctr">
              <a:lnSpc>
                <a:spcPts val="8150"/>
              </a:lnSpc>
            </a:pPr>
            <a:r>
              <a:rPr lang="en-US" sz="582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Abstract</a:t>
            </a:r>
            <a:endParaRPr lang="en-US" sz="582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custDataLst>
              <p:tags r:id="rId1"/>
            </p:custDataLst>
          </p:nvPr>
        </p:nvGraphicFramePr>
        <p:xfrm>
          <a:off x="1680845" y="2091690"/>
          <a:ext cx="15194280" cy="5842000"/>
        </p:xfrm>
        <a:graphic>
          <a:graphicData uri="http://schemas.openxmlformats.org/drawingml/2006/table">
            <a:tbl>
              <a:tblPr/>
              <a:tblGrid>
                <a:gridCol w="1007745"/>
                <a:gridCol w="4075430"/>
                <a:gridCol w="3599180"/>
                <a:gridCol w="1819910"/>
                <a:gridCol w="1710690"/>
                <a:gridCol w="1473200"/>
                <a:gridCol w="1508125"/>
              </a:tblGrid>
              <a:tr h="1376680">
                <a:tc>
                  <a:txBody>
                    <a:bodyPr rtlCol="0"/>
                    <a:lstStyle/>
                    <a:p>
                      <a:pPr algn="ctr">
                        <a:lnSpc>
                          <a:spcPts val="2520"/>
                        </a:lnSpc>
                        <a:defRPr/>
                      </a:pPr>
                      <a:endParaRPr lang="en-US" sz="1100"/>
                    </a:p>
                  </a:txBody>
                  <a:tcPr marL="190500" marR="190500" marT="190500" marB="19050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l">
                        <a:lnSpc>
                          <a:spcPts val="3920"/>
                        </a:lnSpc>
                        <a:defRPr/>
                      </a:pPr>
                      <a:r>
                        <a:rPr lang="en-US" sz="28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Study / Year</a:t>
                      </a:r>
                      <a:endParaRPr lang="en-US" sz="1100"/>
                    </a:p>
                  </a:txBody>
                  <a:tcPr marL="190500" marR="190500" marT="190500" marB="19050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l">
                        <a:lnSpc>
                          <a:spcPts val="3920"/>
                        </a:lnSpc>
                        <a:defRPr/>
                      </a:pPr>
                      <a:r>
                        <a:rPr lang="en-US" sz="28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Model Used</a:t>
                      </a:r>
                      <a:endParaRPr lang="en-US" sz="1100"/>
                    </a:p>
                  </a:txBody>
                  <a:tcPr marL="190500" marR="190500" marT="190500" marB="19050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l">
                        <a:lnSpc>
                          <a:spcPts val="3920"/>
                        </a:lnSpc>
                        <a:defRPr/>
                      </a:pPr>
                      <a:r>
                        <a:rPr lang="en-US" sz="28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F1-Score</a:t>
                      </a:r>
                      <a:endParaRPr lang="en-US" sz="1100"/>
                    </a:p>
                  </a:txBody>
                  <a:tcPr marL="190500" marR="190500" marT="190500" marB="19050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l">
                        <a:lnSpc>
                          <a:spcPts val="3920"/>
                        </a:lnSpc>
                        <a:defRPr/>
                      </a:pPr>
                      <a:r>
                        <a:rPr lang="en-US" sz="28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Recall</a:t>
                      </a:r>
                      <a:endParaRPr lang="en-US" sz="1100"/>
                    </a:p>
                  </a:txBody>
                  <a:tcPr marL="190500" marR="190500" marT="190500" marB="19050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l">
                        <a:lnSpc>
                          <a:spcPts val="3920"/>
                        </a:lnSpc>
                        <a:defRPr/>
                      </a:pPr>
                      <a:r>
                        <a:rPr lang="en-US" sz="28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Precision</a:t>
                      </a:r>
                      <a:endParaRPr lang="en-US" sz="1100"/>
                    </a:p>
                  </a:txBody>
                  <a:tcPr marL="190500" marR="190500" marT="190500" marB="19050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l">
                        <a:lnSpc>
                          <a:spcPts val="3640"/>
                        </a:lnSpc>
                        <a:defRPr/>
                      </a:pPr>
                      <a:r>
                        <a:rPr lang="en-US" sz="2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Accuracy</a:t>
                      </a:r>
                      <a:endParaRPr lang="en-US" sz="1100"/>
                    </a:p>
                  </a:txBody>
                  <a:tcPr marL="190500" marR="190500" marT="190500" marB="19050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r>
              <a:tr h="807720">
                <a:tc>
                  <a:txBody>
                    <a:bodyPr rtlCol="0"/>
                    <a:lstStyle/>
                    <a:p>
                      <a:pPr algn="ctr">
                        <a:lnSpc>
                          <a:spcPts val="3360"/>
                        </a:lnSpc>
                        <a:defRPr/>
                      </a:pPr>
                      <a:endParaRPr lang="en-US" sz="1100"/>
                    </a:p>
                  </a:txBody>
                  <a:tcPr marL="190500" marR="190500" marT="190500" marB="19050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l">
                        <a:lnSpc>
                          <a:spcPts val="3360"/>
                        </a:lnSpc>
                        <a:defRPr/>
                      </a:pPr>
                      <a:r>
                        <a:rPr lang="en-US" sz="2400">
                          <a:solidFill>
                            <a:srgbClr val="000000"/>
                          </a:solidFill>
                          <a:latin typeface="Times New Roman" panose="02020603050405020304"/>
                          <a:ea typeface="Times New Roman" panose="02020603050405020304"/>
                          <a:cs typeface="Times New Roman" panose="02020603050405020304"/>
                          <a:sym typeface="Times New Roman" panose="02020603050405020304"/>
                        </a:rPr>
                        <a:t>Chakraborty et al., 2019</a:t>
                      </a:r>
                      <a:endParaRPr lang="en-US" sz="1100"/>
                    </a:p>
                  </a:txBody>
                  <a:tcPr marL="190500" marR="190500" marT="190500" marB="19050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l">
                        <a:lnSpc>
                          <a:spcPts val="3360"/>
                        </a:lnSpc>
                        <a:defRPr/>
                      </a:pPr>
                      <a:r>
                        <a:rPr lang="en-US" sz="2400">
                          <a:solidFill>
                            <a:srgbClr val="000000"/>
                          </a:solidFill>
                          <a:latin typeface="Times New Roman" panose="02020603050405020304"/>
                          <a:ea typeface="Times New Roman" panose="02020603050405020304"/>
                          <a:cs typeface="Times New Roman" panose="02020603050405020304"/>
                          <a:sym typeface="Times New Roman" panose="02020603050405020304"/>
                        </a:rPr>
                        <a:t>Logistic Regression</a:t>
                      </a:r>
                      <a:endParaRPr lang="en-US" sz="1100"/>
                    </a:p>
                  </a:txBody>
                  <a:tcPr marL="190500" marR="190500" marT="190500" marB="19050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l">
                        <a:lnSpc>
                          <a:spcPts val="3360"/>
                        </a:lnSpc>
                        <a:defRPr/>
                      </a:pPr>
                      <a:r>
                        <a:rPr lang="en-US" sz="2400">
                          <a:solidFill>
                            <a:srgbClr val="000000"/>
                          </a:solidFill>
                          <a:latin typeface="Times New Roman" panose="02020603050405020304"/>
                          <a:ea typeface="Times New Roman" panose="02020603050405020304"/>
                          <a:cs typeface="Times New Roman" panose="02020603050405020304"/>
                          <a:sym typeface="Times New Roman" panose="02020603050405020304"/>
                        </a:rPr>
                        <a:t>78.9%</a:t>
                      </a:r>
                      <a:endParaRPr lang="en-US" sz="1100"/>
                    </a:p>
                  </a:txBody>
                  <a:tcPr marL="190500" marR="190500" marT="190500" marB="19050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ctr">
                        <a:lnSpc>
                          <a:spcPts val="3360"/>
                        </a:lnSpc>
                        <a:defRPr/>
                      </a:pPr>
                      <a:r>
                        <a:rPr lang="en-US" sz="2400">
                          <a:solidFill>
                            <a:srgbClr val="000000"/>
                          </a:solidFill>
                          <a:latin typeface="Times New Roman" panose="02020603050405020304"/>
                          <a:ea typeface="Times New Roman" panose="02020603050405020304"/>
                          <a:cs typeface="Times New Roman" panose="02020603050405020304"/>
                          <a:sym typeface="Times New Roman" panose="02020603050405020304"/>
                        </a:rPr>
                        <a:t>76.8%</a:t>
                      </a:r>
                      <a:endParaRPr lang="en-US" sz="1100"/>
                    </a:p>
                  </a:txBody>
                  <a:tcPr marL="190500" marR="190500" marT="190500" marB="19050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l">
                        <a:lnSpc>
                          <a:spcPts val="3360"/>
                        </a:lnSpc>
                        <a:defRPr/>
                      </a:pPr>
                      <a:r>
                        <a:rPr lang="en-US" sz="2400">
                          <a:solidFill>
                            <a:srgbClr val="000000"/>
                          </a:solidFill>
                          <a:latin typeface="Times New Roman" panose="02020603050405020304"/>
                          <a:ea typeface="Times New Roman" panose="02020603050405020304"/>
                          <a:cs typeface="Times New Roman" panose="02020603050405020304"/>
                          <a:sym typeface="Times New Roman" panose="02020603050405020304"/>
                        </a:rPr>
                        <a:t>81.4%</a:t>
                      </a:r>
                      <a:endParaRPr lang="en-US" sz="1100"/>
                    </a:p>
                  </a:txBody>
                  <a:tcPr marL="190500" marR="190500" marT="190500" marB="19050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l">
                        <a:lnSpc>
                          <a:spcPts val="3360"/>
                        </a:lnSpc>
                        <a:defRPr/>
                      </a:pPr>
                      <a:r>
                        <a:rPr lang="en-US" sz="2400">
                          <a:solidFill>
                            <a:srgbClr val="000000"/>
                          </a:solidFill>
                          <a:latin typeface="Times New Roman" panose="02020603050405020304"/>
                          <a:ea typeface="Times New Roman" panose="02020603050405020304"/>
                          <a:cs typeface="Times New Roman" panose="02020603050405020304"/>
                          <a:sym typeface="Times New Roman" panose="02020603050405020304"/>
                        </a:rPr>
                        <a:t>87.2%</a:t>
                      </a:r>
                      <a:endParaRPr lang="en-US" sz="1100"/>
                    </a:p>
                  </a:txBody>
                  <a:tcPr marL="190500" marR="190500" marT="190500" marB="19050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r>
              <a:tr h="1234440">
                <a:tc>
                  <a:txBody>
                    <a:bodyPr rtlCol="0"/>
                    <a:lstStyle/>
                    <a:p>
                      <a:pPr algn="ctr">
                        <a:lnSpc>
                          <a:spcPts val="3360"/>
                        </a:lnSpc>
                        <a:defRPr/>
                      </a:pPr>
                      <a:endParaRPr lang="en-US" sz="1100"/>
                    </a:p>
                  </a:txBody>
                  <a:tcPr marL="190500" marR="190500" marT="190500" marB="19050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l">
                        <a:lnSpc>
                          <a:spcPts val="3360"/>
                        </a:lnSpc>
                        <a:defRPr/>
                      </a:pPr>
                      <a:r>
                        <a:rPr lang="en-US" sz="2400">
                          <a:solidFill>
                            <a:srgbClr val="000000"/>
                          </a:solidFill>
                          <a:latin typeface="Times New Roman" panose="02020603050405020304"/>
                          <a:ea typeface="Times New Roman" panose="02020603050405020304"/>
                          <a:cs typeface="Times New Roman" panose="02020603050405020304"/>
                          <a:sym typeface="Times New Roman" panose="02020603050405020304"/>
                        </a:rPr>
                        <a:t>Divya &amp; Karthik, 2020</a:t>
                      </a:r>
                      <a:endParaRPr lang="en-US" sz="1100"/>
                    </a:p>
                  </a:txBody>
                  <a:tcPr marL="190500" marR="190500" marT="190500" marB="19050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l">
                        <a:lnSpc>
                          <a:spcPts val="3360"/>
                        </a:lnSpc>
                        <a:defRPr/>
                      </a:pPr>
                      <a:r>
                        <a:rPr lang="en-US" sz="2400">
                          <a:solidFill>
                            <a:srgbClr val="000000"/>
                          </a:solidFill>
                          <a:latin typeface="Times New Roman" panose="02020603050405020304"/>
                          <a:ea typeface="Times New Roman" panose="02020603050405020304"/>
                          <a:cs typeface="Times New Roman" panose="02020603050405020304"/>
                          <a:sym typeface="Times New Roman" panose="02020603050405020304"/>
                        </a:rPr>
                        <a:t>Random Forest</a:t>
                      </a:r>
                      <a:endParaRPr lang="en-US" sz="1100"/>
                    </a:p>
                  </a:txBody>
                  <a:tcPr marL="190500" marR="190500" marT="190500" marB="19050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l">
                        <a:lnSpc>
                          <a:spcPts val="3360"/>
                        </a:lnSpc>
                        <a:defRPr/>
                      </a:pPr>
                      <a:r>
                        <a:rPr lang="en-US" sz="2400">
                          <a:solidFill>
                            <a:srgbClr val="000000"/>
                          </a:solidFill>
                          <a:latin typeface="Times New Roman" panose="02020603050405020304"/>
                          <a:ea typeface="Times New Roman" panose="02020603050405020304"/>
                          <a:cs typeface="Times New Roman" panose="02020603050405020304"/>
                          <a:sym typeface="Times New Roman" panose="02020603050405020304"/>
                        </a:rPr>
                        <a:t>86.8%</a:t>
                      </a:r>
                      <a:endParaRPr lang="en-US" sz="1100"/>
                    </a:p>
                  </a:txBody>
                  <a:tcPr marL="190500" marR="190500" marT="190500" marB="19050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ctr">
                        <a:lnSpc>
                          <a:spcPts val="3360"/>
                        </a:lnSpc>
                        <a:defRPr/>
                      </a:pPr>
                      <a:r>
                        <a:rPr lang="en-US" sz="2400">
                          <a:solidFill>
                            <a:srgbClr val="000000"/>
                          </a:solidFill>
                          <a:latin typeface="Times New Roman" panose="02020603050405020304"/>
                          <a:ea typeface="Times New Roman" panose="02020603050405020304"/>
                          <a:cs typeface="Times New Roman" panose="02020603050405020304"/>
                          <a:sym typeface="Times New Roman" panose="02020603050405020304"/>
                        </a:rPr>
                        <a:t>85.2%</a:t>
                      </a:r>
                      <a:endParaRPr lang="en-US" sz="1100"/>
                    </a:p>
                    <a:p>
                      <a:pPr algn="ctr">
                        <a:lnSpc>
                          <a:spcPts val="3360"/>
                        </a:lnSpc>
                      </a:pPr>
                    </a:p>
                  </a:txBody>
                  <a:tcPr marL="190500" marR="190500" marT="190500" marB="19050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ctr">
                        <a:lnSpc>
                          <a:spcPts val="3360"/>
                        </a:lnSpc>
                        <a:defRPr/>
                      </a:pPr>
                      <a:r>
                        <a:rPr lang="en-US" sz="2400">
                          <a:solidFill>
                            <a:srgbClr val="000000"/>
                          </a:solidFill>
                          <a:latin typeface="Times New Roman" panose="02020603050405020304"/>
                          <a:ea typeface="Times New Roman" panose="02020603050405020304"/>
                          <a:cs typeface="Times New Roman" panose="02020603050405020304"/>
                          <a:sym typeface="Times New Roman" panose="02020603050405020304"/>
                        </a:rPr>
                        <a:t>88.5%</a:t>
                      </a:r>
                      <a:endParaRPr lang="en-US" sz="1100"/>
                    </a:p>
                  </a:txBody>
                  <a:tcPr marL="190500" marR="190500" marT="190500" marB="19050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l">
                        <a:lnSpc>
                          <a:spcPts val="3360"/>
                        </a:lnSpc>
                        <a:defRPr/>
                      </a:pPr>
                      <a:r>
                        <a:rPr lang="en-US" sz="2400">
                          <a:solidFill>
                            <a:srgbClr val="000000"/>
                          </a:solidFill>
                          <a:latin typeface="Times New Roman" panose="02020603050405020304"/>
                          <a:ea typeface="Times New Roman" panose="02020603050405020304"/>
                          <a:cs typeface="Times New Roman" panose="02020603050405020304"/>
                          <a:sym typeface="Times New Roman" panose="02020603050405020304"/>
                        </a:rPr>
                        <a:t>93.1%</a:t>
                      </a:r>
                      <a:endParaRPr lang="en-US" sz="1100"/>
                    </a:p>
                  </a:txBody>
                  <a:tcPr marL="190500" marR="190500" marT="190500" marB="19050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r>
              <a:tr h="807720">
                <a:tc>
                  <a:txBody>
                    <a:bodyPr rtlCol="0"/>
                    <a:lstStyle/>
                    <a:p>
                      <a:pPr algn="ctr">
                        <a:lnSpc>
                          <a:spcPts val="3360"/>
                        </a:lnSpc>
                        <a:defRPr/>
                      </a:pPr>
                      <a:endParaRPr lang="en-US" sz="1100"/>
                    </a:p>
                  </a:txBody>
                  <a:tcPr marL="190500" marR="190500" marT="190500" marB="19050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l">
                        <a:lnSpc>
                          <a:spcPts val="3360"/>
                        </a:lnSpc>
                        <a:defRPr/>
                      </a:pPr>
                      <a:r>
                        <a:rPr lang="en-US" sz="2400">
                          <a:solidFill>
                            <a:srgbClr val="000000"/>
                          </a:solidFill>
                          <a:latin typeface="Times New Roman" panose="02020603050405020304"/>
                          <a:ea typeface="Times New Roman" panose="02020603050405020304"/>
                          <a:cs typeface="Times New Roman" panose="02020603050405020304"/>
                          <a:sym typeface="Times New Roman" panose="02020603050405020304"/>
                        </a:rPr>
                        <a:t>Rajeswari et al., 2021</a:t>
                      </a:r>
                      <a:endParaRPr lang="en-US" sz="1100"/>
                    </a:p>
                  </a:txBody>
                  <a:tcPr marL="190500" marR="190500" marT="190500" marB="19050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l">
                        <a:lnSpc>
                          <a:spcPts val="3360"/>
                        </a:lnSpc>
                        <a:defRPr/>
                      </a:pPr>
                      <a:r>
                        <a:rPr lang="en-US" sz="2400">
                          <a:solidFill>
                            <a:srgbClr val="000000"/>
                          </a:solidFill>
                          <a:latin typeface="Times New Roman" panose="02020603050405020304"/>
                          <a:ea typeface="Times New Roman" panose="02020603050405020304"/>
                          <a:cs typeface="Times New Roman" panose="02020603050405020304"/>
                          <a:sym typeface="Times New Roman" panose="02020603050405020304"/>
                        </a:rPr>
                        <a:t>SVM (RBF Kernel)</a:t>
                      </a:r>
                      <a:endParaRPr lang="en-US" sz="1100"/>
                    </a:p>
                  </a:txBody>
                  <a:tcPr marL="190500" marR="190500" marT="190500" marB="19050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l">
                        <a:lnSpc>
                          <a:spcPts val="3360"/>
                        </a:lnSpc>
                        <a:defRPr/>
                      </a:pPr>
                      <a:r>
                        <a:rPr lang="en-US" sz="2400">
                          <a:solidFill>
                            <a:srgbClr val="000000"/>
                          </a:solidFill>
                          <a:latin typeface="Times New Roman" panose="02020603050405020304"/>
                          <a:ea typeface="Times New Roman" panose="02020603050405020304"/>
                          <a:cs typeface="Times New Roman" panose="02020603050405020304"/>
                          <a:sym typeface="Times New Roman" panose="02020603050405020304"/>
                        </a:rPr>
                        <a:t>83.9%</a:t>
                      </a:r>
                      <a:endParaRPr lang="en-US" sz="1100"/>
                    </a:p>
                  </a:txBody>
                  <a:tcPr marL="190500" marR="190500" marT="190500" marB="19050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l">
                        <a:lnSpc>
                          <a:spcPts val="3360"/>
                        </a:lnSpc>
                        <a:defRPr/>
                      </a:pPr>
                      <a:r>
                        <a:rPr lang="en-US" sz="2400">
                          <a:solidFill>
                            <a:srgbClr val="000000"/>
                          </a:solidFill>
                          <a:latin typeface="Times New Roman" panose="02020603050405020304"/>
                          <a:ea typeface="Times New Roman" panose="02020603050405020304"/>
                          <a:cs typeface="Times New Roman" panose="02020603050405020304"/>
                          <a:sym typeface="Times New Roman" panose="02020603050405020304"/>
                        </a:rPr>
                        <a:t>82.1%</a:t>
                      </a:r>
                      <a:endParaRPr lang="en-US" sz="1100"/>
                    </a:p>
                  </a:txBody>
                  <a:tcPr marL="190500" marR="190500" marT="190500" marB="19050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ctr">
                        <a:lnSpc>
                          <a:spcPts val="3360"/>
                        </a:lnSpc>
                        <a:defRPr/>
                      </a:pPr>
                      <a:r>
                        <a:rPr lang="en-US" sz="2400">
                          <a:solidFill>
                            <a:srgbClr val="000000"/>
                          </a:solidFill>
                          <a:latin typeface="Times New Roman" panose="02020603050405020304"/>
                          <a:ea typeface="Times New Roman" panose="02020603050405020304"/>
                          <a:cs typeface="Times New Roman" panose="02020603050405020304"/>
                          <a:sym typeface="Times New Roman" panose="02020603050405020304"/>
                        </a:rPr>
                        <a:t>86.0%</a:t>
                      </a:r>
                      <a:endParaRPr lang="en-US" sz="1100"/>
                    </a:p>
                  </a:txBody>
                  <a:tcPr marL="190500" marR="190500" marT="190500" marB="19050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ctr">
                        <a:lnSpc>
                          <a:spcPts val="3360"/>
                        </a:lnSpc>
                        <a:defRPr/>
                      </a:pPr>
                      <a:r>
                        <a:rPr lang="en-US" sz="2400">
                          <a:solidFill>
                            <a:srgbClr val="000000"/>
                          </a:solidFill>
                          <a:latin typeface="Times New Roman" panose="02020603050405020304"/>
                          <a:ea typeface="Times New Roman" panose="02020603050405020304"/>
                          <a:cs typeface="Times New Roman" panose="02020603050405020304"/>
                          <a:sym typeface="Times New Roman" panose="02020603050405020304"/>
                        </a:rPr>
                        <a:t>91.4%</a:t>
                      </a:r>
                      <a:endParaRPr lang="en-US" sz="1100"/>
                    </a:p>
                  </a:txBody>
                  <a:tcPr marL="190500" marR="190500" marT="190500" marB="19050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r>
              <a:tr h="807720">
                <a:tc>
                  <a:txBody>
                    <a:bodyPr rtlCol="0"/>
                    <a:lstStyle/>
                    <a:p>
                      <a:pPr algn="ctr">
                        <a:lnSpc>
                          <a:spcPts val="3360"/>
                        </a:lnSpc>
                        <a:defRPr/>
                      </a:pPr>
                      <a:endParaRPr lang="en-US" sz="1100"/>
                    </a:p>
                  </a:txBody>
                  <a:tcPr marL="190500" marR="190500" marT="190500" marB="19050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ctr">
                        <a:lnSpc>
                          <a:spcPts val="3360"/>
                        </a:lnSpc>
                        <a:defRPr/>
                      </a:pPr>
                      <a:r>
                        <a:rPr lang="en-US" sz="2400">
                          <a:solidFill>
                            <a:srgbClr val="000000"/>
                          </a:solidFill>
                          <a:latin typeface="Times New Roman" panose="02020603050405020304"/>
                          <a:ea typeface="Times New Roman" panose="02020603050405020304"/>
                          <a:cs typeface="Times New Roman" panose="02020603050405020304"/>
                          <a:sym typeface="Times New Roman" panose="02020603050405020304"/>
                        </a:rPr>
                        <a:t>Roy et al., 2022</a:t>
                      </a:r>
                      <a:endParaRPr lang="en-US" sz="1100"/>
                    </a:p>
                  </a:txBody>
                  <a:tcPr marL="190500" marR="190500" marT="190500" marB="19050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l">
                        <a:lnSpc>
                          <a:spcPts val="3360"/>
                        </a:lnSpc>
                        <a:defRPr/>
                      </a:pPr>
                      <a:r>
                        <a:rPr lang="en-US" sz="2400">
                          <a:solidFill>
                            <a:srgbClr val="000000"/>
                          </a:solidFill>
                          <a:latin typeface="Times New Roman" panose="02020603050405020304"/>
                          <a:ea typeface="Times New Roman" panose="02020603050405020304"/>
                          <a:cs typeface="Times New Roman" panose="02020603050405020304"/>
                          <a:sym typeface="Times New Roman" panose="02020603050405020304"/>
                        </a:rPr>
                        <a:t>Naïve Bayes</a:t>
                      </a:r>
                      <a:endParaRPr lang="en-US" sz="1100"/>
                    </a:p>
                  </a:txBody>
                  <a:tcPr marL="190500" marR="190500" marT="190500" marB="19050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l">
                        <a:lnSpc>
                          <a:spcPts val="3360"/>
                        </a:lnSpc>
                        <a:defRPr/>
                      </a:pPr>
                      <a:r>
                        <a:rPr lang="en-US" sz="2400">
                          <a:solidFill>
                            <a:srgbClr val="000000"/>
                          </a:solidFill>
                          <a:latin typeface="Times New Roman" panose="02020603050405020304"/>
                          <a:ea typeface="Times New Roman" panose="02020603050405020304"/>
                          <a:cs typeface="Times New Roman" panose="02020603050405020304"/>
                          <a:sym typeface="Times New Roman" panose="02020603050405020304"/>
                        </a:rPr>
                        <a:t>75.7%</a:t>
                      </a:r>
                      <a:endParaRPr lang="en-US" sz="1100"/>
                    </a:p>
                  </a:txBody>
                  <a:tcPr marL="190500" marR="190500" marT="190500" marB="19050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l">
                        <a:lnSpc>
                          <a:spcPts val="3360"/>
                        </a:lnSpc>
                        <a:defRPr/>
                      </a:pPr>
                      <a:r>
                        <a:rPr lang="en-US" sz="2400">
                          <a:solidFill>
                            <a:srgbClr val="000000"/>
                          </a:solidFill>
                          <a:latin typeface="Times New Roman" panose="02020603050405020304"/>
                          <a:ea typeface="Times New Roman" panose="02020603050405020304"/>
                          <a:cs typeface="Times New Roman" panose="02020603050405020304"/>
                          <a:sym typeface="Times New Roman" panose="02020603050405020304"/>
                        </a:rPr>
                        <a:t>72.5%</a:t>
                      </a:r>
                      <a:endParaRPr lang="en-US" sz="1100"/>
                    </a:p>
                  </a:txBody>
                  <a:tcPr marL="190500" marR="190500" marT="190500" marB="19050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ctr">
                        <a:lnSpc>
                          <a:spcPts val="3360"/>
                        </a:lnSpc>
                        <a:defRPr/>
                      </a:pPr>
                      <a:r>
                        <a:rPr lang="en-US" sz="2400">
                          <a:solidFill>
                            <a:srgbClr val="000000"/>
                          </a:solidFill>
                          <a:latin typeface="Times New Roman" panose="02020603050405020304"/>
                          <a:ea typeface="Times New Roman" panose="02020603050405020304"/>
                          <a:cs typeface="Times New Roman" panose="02020603050405020304"/>
                          <a:sym typeface="Times New Roman" panose="02020603050405020304"/>
                        </a:rPr>
                        <a:t>79.3%</a:t>
                      </a:r>
                      <a:endParaRPr lang="en-US" sz="1100"/>
                    </a:p>
                  </a:txBody>
                  <a:tcPr marL="190500" marR="190500" marT="190500" marB="19050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ctr">
                        <a:lnSpc>
                          <a:spcPts val="3360"/>
                        </a:lnSpc>
                        <a:defRPr/>
                      </a:pPr>
                      <a:r>
                        <a:rPr lang="en-US" sz="2400">
                          <a:solidFill>
                            <a:srgbClr val="000000"/>
                          </a:solidFill>
                          <a:latin typeface="Times New Roman" panose="02020603050405020304"/>
                          <a:ea typeface="Times New Roman" panose="02020603050405020304"/>
                          <a:cs typeface="Times New Roman" panose="02020603050405020304"/>
                          <a:sym typeface="Times New Roman" panose="02020603050405020304"/>
                        </a:rPr>
                        <a:t>84.0%</a:t>
                      </a:r>
                      <a:endParaRPr lang="en-US" sz="1100"/>
                    </a:p>
                  </a:txBody>
                  <a:tcPr marL="190500" marR="190500" marT="190500" marB="19050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r>
              <a:tr h="807720">
                <a:tc>
                  <a:txBody>
                    <a:bodyPr rtlCol="0"/>
                    <a:lstStyle/>
                    <a:p>
                      <a:pPr algn="ctr">
                        <a:lnSpc>
                          <a:spcPts val="3360"/>
                        </a:lnSpc>
                        <a:defRPr/>
                      </a:pPr>
                      <a:endParaRPr lang="en-US" sz="1100"/>
                    </a:p>
                  </a:txBody>
                  <a:tcPr marL="190500" marR="190500" marT="190500" marB="19050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l">
                        <a:lnSpc>
                          <a:spcPts val="3360"/>
                        </a:lnSpc>
                        <a:defRPr/>
                      </a:pPr>
                      <a:r>
                        <a:rPr lang="en-US" sz="2400">
                          <a:solidFill>
                            <a:srgbClr val="000000"/>
                          </a:solidFill>
                          <a:latin typeface="Times New Roman" panose="02020603050405020304"/>
                          <a:ea typeface="Times New Roman" panose="02020603050405020304"/>
                          <a:cs typeface="Times New Roman" panose="02020603050405020304"/>
                          <a:sym typeface="Times New Roman" panose="02020603050405020304"/>
                        </a:rPr>
                        <a:t>Sharma et al., 2022</a:t>
                      </a:r>
                      <a:endParaRPr lang="en-US" sz="1100"/>
                    </a:p>
                  </a:txBody>
                  <a:tcPr marL="190500" marR="190500" marT="190500" marB="19050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l">
                        <a:lnSpc>
                          <a:spcPts val="3360"/>
                        </a:lnSpc>
                        <a:defRPr/>
                      </a:pPr>
                      <a:r>
                        <a:rPr lang="en-US" sz="2400">
                          <a:solidFill>
                            <a:srgbClr val="000000"/>
                          </a:solidFill>
                          <a:latin typeface="Times New Roman" panose="02020603050405020304"/>
                          <a:ea typeface="Times New Roman" panose="02020603050405020304"/>
                          <a:cs typeface="Times New Roman" panose="02020603050405020304"/>
                          <a:sym typeface="Times New Roman" panose="02020603050405020304"/>
                        </a:rPr>
                        <a:t>LSTM Neural Network</a:t>
                      </a:r>
                      <a:endParaRPr lang="en-US" sz="1100"/>
                    </a:p>
                  </a:txBody>
                  <a:tcPr marL="190500" marR="190500" marT="190500" marB="19050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l">
                        <a:lnSpc>
                          <a:spcPts val="3360"/>
                        </a:lnSpc>
                        <a:defRPr/>
                      </a:pPr>
                      <a:r>
                        <a:rPr lang="en-US" sz="2400">
                          <a:solidFill>
                            <a:srgbClr val="000000"/>
                          </a:solidFill>
                          <a:latin typeface="Times New Roman" panose="02020603050405020304"/>
                          <a:ea typeface="Times New Roman" panose="02020603050405020304"/>
                          <a:cs typeface="Times New Roman" panose="02020603050405020304"/>
                          <a:sym typeface="Times New Roman" panose="02020603050405020304"/>
                        </a:rPr>
                        <a:t>89.9%</a:t>
                      </a:r>
                      <a:endParaRPr lang="en-US" sz="1100"/>
                    </a:p>
                  </a:txBody>
                  <a:tcPr marL="190500" marR="190500" marT="190500" marB="19050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l">
                        <a:lnSpc>
                          <a:spcPts val="3360"/>
                        </a:lnSpc>
                        <a:defRPr/>
                      </a:pPr>
                      <a:r>
                        <a:rPr lang="en-US" sz="2400">
                          <a:solidFill>
                            <a:srgbClr val="000000"/>
                          </a:solidFill>
                          <a:latin typeface="Times New Roman" panose="02020603050405020304"/>
                          <a:ea typeface="Times New Roman" panose="02020603050405020304"/>
                          <a:cs typeface="Times New Roman" panose="02020603050405020304"/>
                          <a:sym typeface="Times New Roman" panose="02020603050405020304"/>
                        </a:rPr>
                        <a:t>89.2%</a:t>
                      </a:r>
                      <a:endParaRPr lang="en-US" sz="1100"/>
                    </a:p>
                  </a:txBody>
                  <a:tcPr marL="190500" marR="190500" marT="190500" marB="19050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l">
                        <a:lnSpc>
                          <a:spcPts val="3360"/>
                        </a:lnSpc>
                        <a:defRPr/>
                      </a:pPr>
                      <a:r>
                        <a:rPr lang="en-US" sz="2400">
                          <a:solidFill>
                            <a:srgbClr val="000000"/>
                          </a:solidFill>
                          <a:latin typeface="Times New Roman" panose="02020603050405020304"/>
                          <a:ea typeface="Times New Roman" panose="02020603050405020304"/>
                          <a:cs typeface="Times New Roman" panose="02020603050405020304"/>
                          <a:sym typeface="Times New Roman" panose="02020603050405020304"/>
                        </a:rPr>
                        <a:t>90.7%</a:t>
                      </a:r>
                      <a:endParaRPr lang="en-US" sz="1100"/>
                    </a:p>
                  </a:txBody>
                  <a:tcPr marL="190500" marR="190500" marT="190500" marB="19050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rtlCol="0"/>
                    <a:lstStyle/>
                    <a:p>
                      <a:pPr algn="l">
                        <a:lnSpc>
                          <a:spcPts val="3360"/>
                        </a:lnSpc>
                        <a:defRPr/>
                      </a:pPr>
                      <a:r>
                        <a:rPr lang="en-US" sz="2400">
                          <a:solidFill>
                            <a:srgbClr val="000000"/>
                          </a:solidFill>
                          <a:latin typeface="Times New Roman" panose="02020603050405020304"/>
                          <a:ea typeface="Times New Roman" panose="02020603050405020304"/>
                          <a:cs typeface="Times New Roman" panose="02020603050405020304"/>
                          <a:sym typeface="Times New Roman" panose="02020603050405020304"/>
                        </a:rPr>
                        <a:t>94.8%</a:t>
                      </a:r>
                      <a:endParaRPr lang="en-US" sz="1100"/>
                    </a:p>
                  </a:txBody>
                  <a:tcPr marL="190500" marR="190500" marT="190500" marB="190500" anchor="t">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r>
            </a:tbl>
          </a:graphicData>
        </a:graphic>
      </p:graphicFrame>
      <p:sp>
        <p:nvSpPr>
          <p:cNvPr id="3" name="TextBox 3"/>
          <p:cNvSpPr txBox="1"/>
          <p:nvPr/>
        </p:nvSpPr>
        <p:spPr>
          <a:xfrm>
            <a:off x="1680585" y="763899"/>
            <a:ext cx="5455682" cy="957677"/>
          </a:xfrm>
          <a:prstGeom prst="rect">
            <a:avLst/>
          </a:prstGeom>
        </p:spPr>
        <p:txBody>
          <a:bodyPr lIns="0" tIns="0" rIns="0" bIns="0" rtlCol="0" anchor="t">
            <a:spAutoFit/>
          </a:bodyPr>
          <a:lstStyle/>
          <a:p>
            <a:pPr algn="ctr">
              <a:lnSpc>
                <a:spcPts val="7590"/>
              </a:lnSpc>
              <a:spcBef>
                <a:spcPct val="0"/>
              </a:spcBef>
            </a:pPr>
            <a:r>
              <a:rPr lang="en-US" sz="542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Literature Survey </a:t>
            </a:r>
            <a:endParaRPr lang="en-US" sz="542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84804" y="454660"/>
            <a:ext cx="6921698" cy="948690"/>
          </a:xfrm>
          <a:prstGeom prst="rect">
            <a:avLst/>
          </a:prstGeom>
        </p:spPr>
        <p:txBody>
          <a:bodyPr lIns="0" tIns="0" rIns="0" bIns="0" rtlCol="0" anchor="t">
            <a:spAutoFit/>
          </a:bodyPr>
          <a:lstStyle/>
          <a:p>
            <a:pPr algn="ctr">
              <a:lnSpc>
                <a:spcPts val="7560"/>
              </a:lnSpc>
            </a:pPr>
            <a:r>
              <a:rPr lang="en-US" sz="54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Proposed Methodology </a:t>
            </a:r>
            <a:endParaRPr lang="en-US" sz="54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
        <p:nvSpPr>
          <p:cNvPr id="7" name="Text Box 6"/>
          <p:cNvSpPr txBox="1"/>
          <p:nvPr/>
        </p:nvSpPr>
        <p:spPr>
          <a:xfrm>
            <a:off x="2286000" y="1714500"/>
            <a:ext cx="12839700" cy="6554470"/>
          </a:xfrm>
          <a:prstGeom prst="rect">
            <a:avLst/>
          </a:prstGeom>
        </p:spPr>
        <p:txBody>
          <a:bodyPr wrap="square">
            <a:spAutoFit/>
          </a:bodyPr>
          <a:p>
            <a:pPr algn="just">
              <a:lnSpc>
                <a:spcPct val="150000"/>
              </a:lnSpc>
              <a:buAutoNum type="arabicPeriod"/>
            </a:pPr>
            <a:r>
              <a:rPr sz="2800" b="1">
                <a:latin typeface="Times New Roman" panose="02020603050405020304" charset="0"/>
                <a:cs typeface="Times New Roman" panose="02020603050405020304" charset="0"/>
              </a:rPr>
              <a:t>Data Collection</a:t>
            </a:r>
            <a:endParaRPr sz="2800">
              <a:latin typeface="Times New Roman" panose="02020603050405020304" charset="0"/>
              <a:cs typeface="Times New Roman" panose="02020603050405020304" charset="0"/>
            </a:endParaRPr>
          </a:p>
          <a:p>
            <a:pPr lvl="1" algn="just">
              <a:lnSpc>
                <a:spcPct val="150000"/>
              </a:lnSpc>
              <a:buFont typeface="Arial" panose="020B0604020202020204"/>
              <a:buChar char="◦"/>
            </a:pPr>
            <a:r>
              <a:rPr sz="2800">
                <a:latin typeface="Times New Roman" panose="02020603050405020304" charset="0"/>
                <a:cs typeface="Times New Roman" panose="02020603050405020304" charset="0"/>
              </a:rPr>
              <a:t>Combine job postings from three datasets: Fake Job, Pakistan Job, US Job</a:t>
            </a:r>
            <a:endParaRPr sz="2800">
              <a:latin typeface="Times New Roman" panose="02020603050405020304" charset="0"/>
              <a:cs typeface="Times New Roman" panose="02020603050405020304" charset="0"/>
            </a:endParaRPr>
          </a:p>
          <a:p>
            <a:pPr indent="0" algn="just">
              <a:lnSpc>
                <a:spcPct val="150000"/>
              </a:lnSpc>
              <a:buNone/>
            </a:pPr>
            <a:r>
              <a:rPr lang="en-IN" sz="2800" b="1">
                <a:latin typeface="Times New Roman" panose="02020603050405020304" charset="0"/>
                <a:cs typeface="Times New Roman" panose="02020603050405020304" charset="0"/>
              </a:rPr>
              <a:t>2.</a:t>
            </a:r>
            <a:r>
              <a:rPr sz="2800" b="1">
                <a:latin typeface="Times New Roman" panose="02020603050405020304" charset="0"/>
                <a:cs typeface="Times New Roman" panose="02020603050405020304" charset="0"/>
              </a:rPr>
              <a:t>Data Preprocessing</a:t>
            </a:r>
            <a:endParaRPr sz="2800">
              <a:latin typeface="Times New Roman" panose="02020603050405020304" charset="0"/>
              <a:cs typeface="Times New Roman" panose="02020603050405020304" charset="0"/>
            </a:endParaRPr>
          </a:p>
          <a:p>
            <a:pPr lvl="1" algn="just">
              <a:lnSpc>
                <a:spcPct val="150000"/>
              </a:lnSpc>
              <a:buFont typeface="Arial" panose="020B0604020202020204"/>
              <a:buChar char="◦"/>
            </a:pPr>
            <a:r>
              <a:rPr sz="2800">
                <a:latin typeface="Times New Roman" panose="02020603050405020304" charset="0"/>
                <a:cs typeface="Times New Roman" panose="02020603050405020304" charset="0"/>
              </a:rPr>
              <a:t>Remove URLs, emails, HTML tags, special characters, duplicates, nulls</a:t>
            </a:r>
            <a:endParaRPr sz="2800">
              <a:latin typeface="Times New Roman" panose="02020603050405020304" charset="0"/>
              <a:cs typeface="Times New Roman" panose="02020603050405020304" charset="0"/>
            </a:endParaRPr>
          </a:p>
          <a:p>
            <a:pPr lvl="1" algn="just">
              <a:lnSpc>
                <a:spcPct val="150000"/>
              </a:lnSpc>
              <a:buFont typeface="Arial" panose="020B0604020202020204"/>
              <a:buChar char="◦"/>
            </a:pPr>
            <a:r>
              <a:rPr sz="2800">
                <a:latin typeface="Times New Roman" panose="02020603050405020304" charset="0"/>
                <a:cs typeface="Times New Roman" panose="02020603050405020304" charset="0"/>
              </a:rPr>
              <a:t>Convert text to lowercase</a:t>
            </a:r>
            <a:endParaRPr sz="2800">
              <a:latin typeface="Times New Roman" panose="02020603050405020304" charset="0"/>
              <a:cs typeface="Times New Roman" panose="02020603050405020304" charset="0"/>
            </a:endParaRPr>
          </a:p>
          <a:p>
            <a:pPr lvl="1" algn="just">
              <a:lnSpc>
                <a:spcPct val="150000"/>
              </a:lnSpc>
              <a:buFont typeface="Arial" panose="020B0604020202020204"/>
              <a:buChar char="◦"/>
            </a:pPr>
            <a:r>
              <a:rPr sz="2800">
                <a:latin typeface="Times New Roman" panose="02020603050405020304" charset="0"/>
                <a:cs typeface="Times New Roman" panose="02020603050405020304" charset="0"/>
              </a:rPr>
              <a:t>Merge text fields → job_content</a:t>
            </a:r>
            <a:endParaRPr sz="2800">
              <a:latin typeface="Times New Roman" panose="02020603050405020304" charset="0"/>
              <a:cs typeface="Times New Roman" panose="02020603050405020304" charset="0"/>
            </a:endParaRPr>
          </a:p>
          <a:p>
            <a:pPr indent="0" algn="just">
              <a:lnSpc>
                <a:spcPct val="150000"/>
              </a:lnSpc>
              <a:buNone/>
            </a:pPr>
            <a:r>
              <a:rPr lang="en-IN" sz="2800" b="1">
                <a:latin typeface="Times New Roman" panose="02020603050405020304" charset="0"/>
                <a:cs typeface="Times New Roman" panose="02020603050405020304" charset="0"/>
              </a:rPr>
              <a:t>3.</a:t>
            </a:r>
            <a:r>
              <a:rPr sz="2800" b="1">
                <a:latin typeface="Times New Roman" panose="02020603050405020304" charset="0"/>
                <a:cs typeface="Times New Roman" panose="02020603050405020304" charset="0"/>
              </a:rPr>
              <a:t>Exploratory Data Analysis (EDA)</a:t>
            </a:r>
            <a:endParaRPr sz="2800">
              <a:latin typeface="Times New Roman" panose="02020603050405020304" charset="0"/>
              <a:cs typeface="Times New Roman" panose="02020603050405020304" charset="0"/>
            </a:endParaRPr>
          </a:p>
          <a:p>
            <a:pPr lvl="1" algn="just">
              <a:lnSpc>
                <a:spcPct val="150000"/>
              </a:lnSpc>
              <a:buFont typeface="Arial" panose="020B0604020202020204"/>
              <a:buChar char="◦"/>
            </a:pPr>
            <a:r>
              <a:rPr sz="2800">
                <a:latin typeface="Times New Roman" panose="02020603050405020304" charset="0"/>
                <a:cs typeface="Times New Roman" panose="02020603050405020304" charset="0"/>
              </a:rPr>
              <a:t>Analyze categories, experience, education, employment type</a:t>
            </a:r>
            <a:endParaRPr sz="2800">
              <a:latin typeface="Times New Roman" panose="02020603050405020304" charset="0"/>
              <a:cs typeface="Times New Roman" panose="02020603050405020304" charset="0"/>
            </a:endParaRPr>
          </a:p>
          <a:p>
            <a:pPr lvl="1" algn="just">
              <a:lnSpc>
                <a:spcPct val="150000"/>
              </a:lnSpc>
              <a:buFont typeface="Arial" panose="020B0604020202020204"/>
              <a:buChar char="◦"/>
            </a:pPr>
            <a:r>
              <a:rPr sz="2800">
                <a:latin typeface="Times New Roman" panose="02020603050405020304" charset="0"/>
                <a:cs typeface="Times New Roman" panose="02020603050405020304" charset="0"/>
              </a:rPr>
              <a:t>Identify class imbalance (few fake jobs)</a:t>
            </a:r>
            <a:endParaRPr sz="2800">
              <a:latin typeface="Times New Roman" panose="02020603050405020304" charset="0"/>
              <a:cs typeface="Times New Roman" panose="02020603050405020304" charset="0"/>
            </a:endParaRPr>
          </a:p>
          <a:p>
            <a:pPr lvl="1" algn="just">
              <a:lnSpc>
                <a:spcPct val="150000"/>
              </a:lnSpc>
              <a:buFont typeface="Arial" panose="020B0604020202020204"/>
              <a:buChar char="◦"/>
            </a:pPr>
            <a:endParaRPr sz="2800">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2133600" y="5524500"/>
            <a:ext cx="8220075" cy="4382770"/>
          </a:xfrm>
          <a:prstGeom prst="rect">
            <a:avLst/>
          </a:prstGeom>
          <a:noFill/>
        </p:spPr>
        <p:txBody>
          <a:bodyPr wrap="square" rtlCol="0" anchor="t">
            <a:noAutofit/>
          </a:bodyPr>
          <a:p>
            <a:pPr>
              <a:spcAft>
                <a:spcPct val="60000"/>
              </a:spcAft>
            </a:pPr>
            <a:endParaRPr lang="en-US" sz="1600">
              <a:sym typeface="+mn-ea"/>
            </a:endParaRPr>
          </a:p>
        </p:txBody>
      </p:sp>
      <p:sp>
        <p:nvSpPr>
          <p:cNvPr id="4" name="Text Box 3"/>
          <p:cNvSpPr txBox="1"/>
          <p:nvPr/>
        </p:nvSpPr>
        <p:spPr>
          <a:xfrm>
            <a:off x="2133600" y="1181100"/>
            <a:ext cx="12802870" cy="7243445"/>
          </a:xfrm>
          <a:prstGeom prst="rect">
            <a:avLst/>
          </a:prstGeom>
          <a:noFill/>
        </p:spPr>
        <p:txBody>
          <a:bodyPr wrap="square" rtlCol="0" anchor="t">
            <a:noAutofit/>
          </a:bodyPr>
          <a:p>
            <a:pPr indent="0" algn="just">
              <a:lnSpc>
                <a:spcPct val="150000"/>
              </a:lnSpc>
              <a:buNone/>
            </a:pPr>
            <a:r>
              <a:rPr lang="en-IN" sz="2400" b="1">
                <a:latin typeface="Times New Roman" panose="02020603050405020304" charset="0"/>
                <a:cs typeface="Times New Roman" panose="02020603050405020304" charset="0"/>
                <a:sym typeface="+mn-ea"/>
              </a:rPr>
              <a:t>4.</a:t>
            </a:r>
            <a:r>
              <a:rPr sz="2400" b="1">
                <a:latin typeface="Times New Roman" panose="02020603050405020304" charset="0"/>
                <a:cs typeface="Times New Roman" panose="02020603050405020304" charset="0"/>
                <a:sym typeface="+mn-ea"/>
              </a:rPr>
              <a:t>Handling Class Imbalance</a:t>
            </a:r>
            <a:endParaRPr sz="2400">
              <a:latin typeface="Times New Roman" panose="02020603050405020304" charset="0"/>
              <a:cs typeface="Times New Roman" panose="02020603050405020304" charset="0"/>
            </a:endParaRPr>
          </a:p>
          <a:p>
            <a:pPr lvl="1" algn="just">
              <a:lnSpc>
                <a:spcPct val="150000"/>
              </a:lnSpc>
              <a:buFont typeface="Arial" panose="020B0604020202020204"/>
              <a:buChar char="◦"/>
            </a:pPr>
            <a:r>
              <a:rPr sz="2400">
                <a:latin typeface="Times New Roman" panose="02020603050405020304" charset="0"/>
                <a:cs typeface="Times New Roman" panose="02020603050405020304" charset="0"/>
                <a:sym typeface="+mn-ea"/>
              </a:rPr>
              <a:t>Use SMOTE variants: SMOBD-SMOTE, ProWSyn, G-SMOTE, Assembled SMOTE, TomekLinks</a:t>
            </a:r>
            <a:endParaRPr sz="2400">
              <a:latin typeface="Times New Roman" panose="02020603050405020304" charset="0"/>
              <a:cs typeface="Times New Roman" panose="02020603050405020304" charset="0"/>
            </a:endParaRPr>
          </a:p>
          <a:p>
            <a:pPr lvl="1" algn="just">
              <a:lnSpc>
                <a:spcPct val="150000"/>
              </a:lnSpc>
              <a:buFont typeface="Arial" panose="020B0604020202020204"/>
              <a:buChar char="◦"/>
            </a:pPr>
            <a:r>
              <a:rPr sz="2400">
                <a:latin typeface="Times New Roman" panose="02020603050405020304" charset="0"/>
                <a:cs typeface="Times New Roman" panose="02020603050405020304" charset="0"/>
                <a:sym typeface="+mn-ea"/>
              </a:rPr>
              <a:t>Generate synthetic fake job samples</a:t>
            </a:r>
            <a:endParaRPr sz="2400">
              <a:latin typeface="Times New Roman" panose="02020603050405020304" charset="0"/>
              <a:cs typeface="Times New Roman" panose="02020603050405020304" charset="0"/>
            </a:endParaRPr>
          </a:p>
          <a:p>
            <a:pPr indent="0" algn="just">
              <a:lnSpc>
                <a:spcPct val="150000"/>
              </a:lnSpc>
              <a:buNone/>
            </a:pPr>
            <a:r>
              <a:rPr lang="en-IN" sz="2400" b="1">
                <a:latin typeface="Times New Roman" panose="02020603050405020304" charset="0"/>
                <a:cs typeface="Times New Roman" panose="02020603050405020304" charset="0"/>
                <a:sym typeface="+mn-ea"/>
              </a:rPr>
              <a:t>5.</a:t>
            </a:r>
            <a:r>
              <a:rPr sz="2400" b="1">
                <a:latin typeface="Times New Roman" panose="02020603050405020304" charset="0"/>
                <a:cs typeface="Times New Roman" panose="02020603050405020304" charset="0"/>
                <a:sym typeface="+mn-ea"/>
              </a:rPr>
              <a:t>Model Selection &amp; Training</a:t>
            </a:r>
            <a:endParaRPr sz="2400" b="1">
              <a:latin typeface="Times New Roman" panose="02020603050405020304" charset="0"/>
              <a:cs typeface="Times New Roman" panose="02020603050405020304" charset="0"/>
            </a:endParaRPr>
          </a:p>
          <a:p>
            <a:pPr lvl="1" algn="just">
              <a:lnSpc>
                <a:spcPct val="150000"/>
              </a:lnSpc>
              <a:buFont typeface="Arial" panose="020B0604020202020204"/>
              <a:buChar char="◦"/>
            </a:pPr>
            <a:r>
              <a:rPr sz="2400">
                <a:latin typeface="Times New Roman" panose="02020603050405020304" charset="0"/>
                <a:cs typeface="Times New Roman" panose="02020603050405020304" charset="0"/>
                <a:sym typeface="+mn-ea"/>
              </a:rPr>
              <a:t>Models: BERT, RoBERTa</a:t>
            </a:r>
            <a:endParaRPr sz="2400">
              <a:latin typeface="Times New Roman" panose="02020603050405020304" charset="0"/>
              <a:cs typeface="Times New Roman" panose="02020603050405020304" charset="0"/>
            </a:endParaRPr>
          </a:p>
          <a:p>
            <a:pPr lvl="1" algn="just">
              <a:lnSpc>
                <a:spcPct val="150000"/>
              </a:lnSpc>
              <a:buFont typeface="Arial" panose="020B0604020202020204"/>
              <a:buChar char="◦"/>
            </a:pPr>
            <a:r>
              <a:rPr sz="2400">
                <a:latin typeface="Times New Roman" panose="02020603050405020304" charset="0"/>
                <a:cs typeface="Times New Roman" panose="02020603050405020304" charset="0"/>
                <a:sym typeface="+mn-ea"/>
              </a:rPr>
              <a:t>Tokenization → embeddings → dense layers → classification</a:t>
            </a:r>
            <a:endParaRPr sz="2400">
              <a:latin typeface="Times New Roman" panose="02020603050405020304" charset="0"/>
              <a:cs typeface="Times New Roman" panose="02020603050405020304" charset="0"/>
            </a:endParaRPr>
          </a:p>
          <a:p>
            <a:pPr lvl="1" algn="just">
              <a:lnSpc>
                <a:spcPct val="150000"/>
              </a:lnSpc>
              <a:buFont typeface="Arial" panose="020B0604020202020204"/>
              <a:buChar char="◦"/>
            </a:pPr>
            <a:r>
              <a:rPr sz="2400">
                <a:latin typeface="Times New Roman" panose="02020603050405020304" charset="0"/>
                <a:cs typeface="Times New Roman" panose="02020603050405020304" charset="0"/>
                <a:sym typeface="+mn-ea"/>
              </a:rPr>
              <a:t>Train on imbalanced &amp; SMOTE-balanced data</a:t>
            </a:r>
            <a:endParaRPr sz="2400">
              <a:latin typeface="Times New Roman" panose="02020603050405020304" charset="0"/>
              <a:cs typeface="Times New Roman" panose="02020603050405020304" charset="0"/>
            </a:endParaRPr>
          </a:p>
          <a:p>
            <a:pPr indent="0" algn="just">
              <a:lnSpc>
                <a:spcPct val="150000"/>
              </a:lnSpc>
              <a:buNone/>
            </a:pPr>
            <a:r>
              <a:rPr lang="en-IN" sz="2400" b="1">
                <a:latin typeface="Times New Roman" panose="02020603050405020304" charset="0"/>
                <a:cs typeface="Times New Roman" panose="02020603050405020304" charset="0"/>
                <a:sym typeface="+mn-ea"/>
              </a:rPr>
              <a:t>6.</a:t>
            </a:r>
            <a:r>
              <a:rPr sz="2400" b="1">
                <a:latin typeface="Times New Roman" panose="02020603050405020304" charset="0"/>
                <a:cs typeface="Times New Roman" panose="02020603050405020304" charset="0"/>
                <a:sym typeface="+mn-ea"/>
              </a:rPr>
              <a:t>Model Evaluation</a:t>
            </a:r>
            <a:endParaRPr sz="2400" b="1">
              <a:latin typeface="Times New Roman" panose="02020603050405020304" charset="0"/>
              <a:cs typeface="Times New Roman" panose="02020603050405020304" charset="0"/>
            </a:endParaRPr>
          </a:p>
          <a:p>
            <a:pPr lvl="1" algn="just">
              <a:lnSpc>
                <a:spcPct val="150000"/>
              </a:lnSpc>
              <a:buFont typeface="Arial" panose="020B0604020202020204"/>
              <a:buChar char="◦"/>
            </a:pPr>
            <a:r>
              <a:rPr sz="2400">
                <a:latin typeface="Times New Roman" panose="02020603050405020304" charset="0"/>
                <a:cs typeface="Times New Roman" panose="02020603050405020304" charset="0"/>
                <a:sym typeface="+mn-ea"/>
              </a:rPr>
              <a:t>Metrics: Accuracy, Balanced Accuracy, Recall, F1, G-Mean, Specificity</a:t>
            </a:r>
            <a:endParaRPr sz="2400">
              <a:latin typeface="Times New Roman" panose="02020603050405020304" charset="0"/>
              <a:cs typeface="Times New Roman" panose="02020603050405020304" charset="0"/>
            </a:endParaRPr>
          </a:p>
          <a:p>
            <a:pPr indent="0" algn="just">
              <a:lnSpc>
                <a:spcPct val="150000"/>
              </a:lnSpc>
              <a:buNone/>
            </a:pPr>
            <a:r>
              <a:rPr lang="en-IN" sz="2400" b="1">
                <a:latin typeface="Times New Roman" panose="02020603050405020304" charset="0"/>
                <a:cs typeface="Times New Roman" panose="02020603050405020304" charset="0"/>
                <a:sym typeface="+mn-ea"/>
              </a:rPr>
              <a:t>7.</a:t>
            </a:r>
            <a:r>
              <a:rPr sz="2400" b="1">
                <a:latin typeface="Times New Roman" panose="02020603050405020304" charset="0"/>
                <a:cs typeface="Times New Roman" panose="02020603050405020304" charset="0"/>
                <a:sym typeface="+mn-ea"/>
              </a:rPr>
              <a:t>Result Comparison</a:t>
            </a:r>
            <a:endParaRPr sz="2400" b="1">
              <a:latin typeface="Times New Roman" panose="02020603050405020304" charset="0"/>
              <a:cs typeface="Times New Roman" panose="02020603050405020304" charset="0"/>
            </a:endParaRPr>
          </a:p>
          <a:p>
            <a:pPr lvl="1" algn="just">
              <a:lnSpc>
                <a:spcPct val="150000"/>
              </a:lnSpc>
              <a:buFont typeface="Arial" panose="020B0604020202020204"/>
              <a:buChar char="◦"/>
            </a:pPr>
            <a:r>
              <a:rPr sz="2400">
                <a:latin typeface="Times New Roman" panose="02020603050405020304" charset="0"/>
                <a:cs typeface="Times New Roman" panose="02020603050405020304" charset="0"/>
                <a:sym typeface="+mn-ea"/>
              </a:rPr>
              <a:t>Compare all SMOTE variants &amp; models</a:t>
            </a:r>
            <a:endParaRPr sz="2400">
              <a:latin typeface="Times New Roman" panose="02020603050405020304" charset="0"/>
              <a:cs typeface="Times New Roman" panose="02020603050405020304" charset="0"/>
            </a:endParaRPr>
          </a:p>
          <a:p>
            <a:pPr lvl="1" algn="just">
              <a:lnSpc>
                <a:spcPct val="150000"/>
              </a:lnSpc>
              <a:buFont typeface="Arial" panose="020B0604020202020204"/>
              <a:buChar char="◦"/>
            </a:pPr>
            <a:r>
              <a:rPr sz="2400">
                <a:latin typeface="Times New Roman" panose="02020603050405020304" charset="0"/>
                <a:cs typeface="Times New Roman" panose="02020603050405020304" charset="0"/>
                <a:sym typeface="+mn-ea"/>
              </a:rPr>
              <a:t>Identify best-performing combination</a:t>
            </a:r>
            <a:endParaRPr lang="en-US" sz="2400">
              <a:latin typeface="Times New Roman" panose="02020603050405020304" charset="0"/>
              <a:cs typeface="Times New Roman" panose="02020603050405020304" charset="0"/>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ChatGPT Image Nov 14, 2025, 09_30_31 AM"/>
          <p:cNvPicPr>
            <a:picLocks noChangeAspect="1"/>
          </p:cNvPicPr>
          <p:nvPr/>
        </p:nvPicPr>
        <p:blipFill>
          <a:blip r:embed="rId1"/>
          <a:stretch>
            <a:fillRect/>
          </a:stretch>
        </p:blipFill>
        <p:spPr>
          <a:xfrm>
            <a:off x="5187315" y="827405"/>
            <a:ext cx="7400925" cy="8663940"/>
          </a:xfrm>
          <a:prstGeom prst="rect">
            <a:avLst/>
          </a:prstGeom>
        </p:spPr>
      </p:pic>
    </p:spTree>
  </p:cSld>
  <p:clrMapOvr>
    <a:masterClrMapping/>
  </p:clrMapOvr>
</p:sld>
</file>

<file path=ppt/tags/tag1.xml><?xml version="1.0" encoding="utf-8"?>
<p:tagLst xmlns:p="http://schemas.openxmlformats.org/presentationml/2006/main">
  <p:tag name="TABLE_ENDDRAG_ORIGIN_RECT" val="1196*324"/>
  <p:tag name="TABLE_ENDDRAG_RECT" val="132*164*1196*32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2872</Words>
  <Application>WPS Presentation</Application>
  <PresentationFormat>On-screen Show (4:3)</PresentationFormat>
  <Paragraphs>118</Paragraphs>
  <Slides>7</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7</vt:i4>
      </vt:variant>
    </vt:vector>
  </HeadingPairs>
  <TitlesOfParts>
    <vt:vector size="18" baseType="lpstr">
      <vt:lpstr>Arial</vt:lpstr>
      <vt:lpstr>SimSun</vt:lpstr>
      <vt:lpstr>Wingdings</vt:lpstr>
      <vt:lpstr>Times New Roman</vt:lpstr>
      <vt:lpstr>Times New Roman Bold</vt:lpstr>
      <vt:lpstr>Times New Roman</vt:lpstr>
      <vt:lpstr>Arial</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 Abstract Online job portals have become a major way for companies to hire and for people to find jobs. But along with real job postings, many fake and scam postings are also increasing. These fraudulent job ads trick people into sharing personal</dc:title>
  <dc:creator/>
  <cp:lastModifiedBy>Pamanna Pundikura</cp:lastModifiedBy>
  <cp:revision>4</cp:revision>
  <dcterms:created xsi:type="dcterms:W3CDTF">2006-08-16T00:00:00Z</dcterms:created>
  <dcterms:modified xsi:type="dcterms:W3CDTF">2025-11-18T15:28:59Z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B858476A2C054E0BB2D8D864E41AC953_13</vt:lpwstr>
  </property>
  <property fmtid="{D5CDD505-2E9C-101B-9397-08002B2CF9AE}" pid="3" name="KSOProductBuildVer">
    <vt:lpwstr>1033-12.2.0.23155</vt:lpwstr>
  </property>
</Properties>
</file>